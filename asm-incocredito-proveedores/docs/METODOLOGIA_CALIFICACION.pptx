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C0E8"/>
                </a:solidFill>
                <a:latin typeface="Calibri"/>
              </a:defRPr>
            </a:pPr>
            <a:r>
              <a:t>METODOLOGÍA DE CALIFICACIÓN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Cómo calificamos la</a:t>
            </a:r>
            <a:br/>
            <a:r>
              <a:t>seguridad de proveedores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D0DD"/>
                </a:solidFill>
                <a:latin typeface="Calibri"/>
              </a:defRPr>
            </a:pPr>
            <a:r>
              <a:t>Guía para audiencia no técnica  •  Qué significa un 98/100 o una calificación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2103120" cy="292608"/>
          </a:xfrm>
          <a:prstGeom prst="roundRect">
            <a:avLst>
              <a:gd name="adj" fmla="val 5000"/>
            </a:avLst>
          </a:prstGeom>
          <a:solidFill>
            <a:srgbClr val="2A4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93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8AC0E8"/>
                </a:solidFill>
                <a:latin typeface="Calibri"/>
              </a:defRPr>
            </a:pPr>
            <a:r>
              <a:t>✦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A8BB"/>
                </a:solidFill>
                <a:latin typeface="Calibri"/>
              </a:defRPr>
            </a:pPr>
            <a:r>
              <a:t>Basado en estándares internacionales</a:t>
            </a:r>
            <a:br/>
            <a:r>
              <a:t>RFC  •  OWASP  •  CISA KEV  •  EPSS  •  OSV.dev  •  Spamhaus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005840"/>
            <a:ext cx="3749039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Calibri"/>
              </a:defRPr>
            </a:pPr>
            <a:r>
              <a:t>EJEMPLO</a:t>
            </a:r>
          </a:p>
        </p:txBody>
      </p:sp>
      <p:sp>
        <p:nvSpPr>
          <p:cNvPr id="10" name="Oval 9"/>
          <p:cNvSpPr/>
          <p:nvPr/>
        </p:nvSpPr>
        <p:spPr>
          <a:xfrm>
            <a:off x="8641080" y="1600200"/>
            <a:ext cx="1828800" cy="1828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/100  • 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Postura sólida  •  Riesgo bajo</a:t>
            </a:r>
            <a:br/>
            <a:r>
              <a:t>Monitoreo rutinario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F</a:t>
            </a:r>
            <a:br/>
            <a:r>
              <a:t>&lt;30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E</a:t>
            </a:r>
            <a:br/>
            <a:r>
              <a:t>30-44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D</a:t>
            </a:r>
            <a:br/>
            <a:r>
              <a:t>45-59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9216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9216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C</a:t>
            </a:r>
            <a:br/>
            <a:r>
              <a:t>60-74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05288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5288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B</a:t>
            </a:r>
            <a:br/>
            <a:r>
              <a:t>75-89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0" y="4709160"/>
            <a:ext cx="475488" cy="3200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507492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A</a:t>
            </a:r>
            <a:br/>
            <a:r>
              <a:t>≥90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126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7A8A9A"/>
                </a:solidFill>
                <a:latin typeface="Calibri"/>
              </a:defRPr>
            </a:pPr>
            <a:r>
              <a:t>v1.0  •  Septiembre 2026  • 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En una frase: medimos qué tan bien protege el proveedor su superficie visible desde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3566160" cy="44348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F6F9F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4A"/>
                </a:solidFill>
                <a:latin typeface="Calibri"/>
              </a:defRPr>
            </a:pPr>
            <a:r>
              <a:t>Qué medimos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Superficie de ataque visible</a:t>
            </a:r>
            <a:br/>
            <a:r>
              <a:t>desde Internet:</a:t>
            </a:r>
            <a:br/>
            <a:r>
              <a:t>dominios, IPs, puertos,</a:t>
            </a:r>
            <a:br/>
            <a:r>
              <a:t>certificados, cabeceras,</a:t>
            </a:r>
            <a:br/>
            <a:r>
              <a:t>correo, reputación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66160" cy="44348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F6F9F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4A"/>
                </a:solidFill>
                <a:latin typeface="Calibri"/>
              </a:defRPr>
            </a:pPr>
            <a:r>
              <a:t>Cómo calificamos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25 controles técnicos</a:t>
            </a:r>
            <a:br/>
            <a:r>
              <a:t>agrupados en 6 categorías</a:t>
            </a:r>
            <a:br/>
            <a:r>
              <a:t>0–100  →  letra A–F</a:t>
            </a:r>
            <a:br/>
            <a:r>
              <a:t>Mismo baremo para todos</a:t>
            </a:r>
            <a:br/>
            <a:r>
              <a:t>los proveedores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143000"/>
            <a:ext cx="3566160" cy="44348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F6F9F"/>
                </a:solidFill>
                <a:latin typeface="Calibri"/>
              </a:defRPr>
            </a:pPr>
            <a:r>
              <a:t>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4A"/>
                </a:solidFill>
                <a:latin typeface="Calibri"/>
              </a:defRPr>
            </a:pPr>
            <a:r>
              <a:t>Con qué estándar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Solo estándares abiertos</a:t>
            </a:r>
            <a:br/>
            <a:r>
              <a:t>RFC, OWASP, CISA, EPSS,</a:t>
            </a:r>
            <a:br/>
            <a:r>
              <a:t>OSV.dev, Spamhaus</a:t>
            </a:r>
            <a:br/>
            <a:r>
              <a:t>Nada propietario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06440"/>
            <a:ext cx="11091672" cy="411480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70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F6F9F"/>
                </a:solidFill>
                <a:latin typeface="Calibri"/>
              </a:defRPr>
            </a:pPr>
            <a:r>
              <a:t>→  Un 98/100 significa que todos los controles visibles desde Internet pasan. No es “seguridad perfecta”, es superficie externa limpia en el nivel escaneado.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Qué se evalúa — Domain Score 0–100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25 controles en 6 categorías  •  Cada control suma puntos si está bien configurado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Acceso Web</a:t>
            </a:r>
            <a:br/>
            <a:r>
              <a:t>HTTPS /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A4A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¿Carga seguro?</a:t>
            </a:r>
            <a:br/>
            <a:r>
              <a:t>¿Certificado válido?</a:t>
            </a:r>
            <a:br/>
            <a:r>
              <a:t>¿TLS 1.3?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0008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50008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Cabeceras</a:t>
            </a:r>
            <a:br/>
            <a:r>
              <a:t>de 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6F9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¿Protege contra</a:t>
            </a:r>
            <a:br/>
            <a:r>
              <a:t>clickjacking, XSS,</a:t>
            </a:r>
            <a:br/>
            <a:r>
              <a:t>framing?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4328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0008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88536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1B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Correo</a:t>
            </a:r>
            <a:br/>
            <a:r>
              <a:t>SPF / DMARC / DKIM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7A6B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¿Evita suplantación</a:t>
            </a:r>
            <a:br/>
            <a:r>
              <a:t>(phishing)?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62856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7064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7064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Infra / 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7064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¿Puertos expuestos?</a:t>
            </a:r>
            <a:br/>
            <a:r>
              <a:t>¿Reputación IPs?</a:t>
            </a:r>
            <a:br/>
            <a:r>
              <a:t>¿Malware?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01384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5592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5592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Mantenimiento</a:t>
            </a:r>
            <a:br/>
            <a:r>
              <a:t>Parches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2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A825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¿Software obsoleto?</a:t>
            </a:r>
            <a:br/>
            <a:r>
              <a:t>¿Vulns conocidas?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39912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65592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04120" y="114300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12070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Superficie</a:t>
            </a:r>
            <a:br/>
            <a:r>
              <a:t>Ataque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16916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6C00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pts máx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2606040"/>
            <a:ext cx="1508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¿Subdominios raros?</a:t>
            </a:r>
            <a:br/>
            <a:r>
              <a:t>¿Typos? ¿Takeover?</a:t>
            </a:r>
            <a:br/>
            <a:r>
              <a:t>¿Supply chain?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4160520"/>
            <a:ext cx="123444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B7280"/>
                </a:solidFill>
                <a:latin typeface="Calibri"/>
              </a:defRPr>
            </a:pPr>
            <a:r>
              <a:t>170 pts teóricos  →  capado a 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4983480"/>
            <a:ext cx="11365992" cy="105156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ESCALA DE CALIFICACIÓN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Muy crítico  (&lt;30)</a:t>
            </a:r>
            <a:br/>
            <a:r>
              <a:t>Bloquear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1448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41448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98648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Crítico  (30-44)</a:t>
            </a:r>
            <a:br/>
            <a:r>
              <a:t>Escalar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88536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88536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5736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Deficiente  (45-59)</a:t>
            </a:r>
            <a:br/>
            <a:r>
              <a:t>≤30 días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35624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92824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Regular  (60-74)</a:t>
            </a:r>
            <a:br/>
            <a:r>
              <a:t>30-90 días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82712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82712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9912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Bueno  (75-89)</a:t>
            </a:r>
            <a:br/>
            <a:r>
              <a:t>Planificado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29800" y="5413248"/>
            <a:ext cx="411480" cy="41148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29800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87000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A3A4A"/>
                </a:solidFill>
                <a:latin typeface="Calibri"/>
              </a:defRPr>
            </a:pPr>
            <a:r>
              <a:t>Excelente  (≥90)</a:t>
            </a:r>
            <a:br/>
            <a:r>
              <a:t>Rutinario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Estándares y 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Nada propietario  •  Solo RFCs, guías gubernamentales y marcos de la industria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74552" cy="347472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ÁREA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115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ESTÁNDAR / GUÍA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11556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QUÉ VALIDA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63040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270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TLS / Certificados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52704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5246, RFC 8446  •  Mozilla SSL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5270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Versiones seguras, suites, caducidad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901952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659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HSTS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196596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6797  •  OWASP HSTS Cheat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Forzar HTTPS, max-age ≥1 año, subdominios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40864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048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CSP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40487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CSP Level 3  •  OWASP CSP Cheat 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40487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script-src, object-src, nonces/hashes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79776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437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Cookies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284378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6265bis  •  OWASP Session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8437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Secure, HttpOnly, SameSite=Lax/Strict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18688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82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SPF / DMARC / DKIM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28269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7208, RFC 7489, RFC 6376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2826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Rechazo -all, p=reject, claves ≥2048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216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MTA-STS / TLS-RPT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72160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8461, RFC 8460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7216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Transporte seguro, reporte fallos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96512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60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DNSSEC / CAA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16052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RFC 4033-35, RFC 8659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60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Cadena confianza, autorización emisión certs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35424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994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Vulnerabilidades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59943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OSV.dev, NVD, CISA KEV, FIRST EPSS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5994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CVE confirmados, explotados, probabilidad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974336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0383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Reputación 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0383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Spamhaus ZEN, AbuseIPDB, URLhaus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038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Blocklists, malware, C2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413248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4772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Takeover / Typos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547725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OWASP Subdomain Takeover, ICANN SSR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547725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CNAMEs sin reclamar, dominios imitadores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852160"/>
            <a:ext cx="11274552" cy="402336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916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59161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F6F9F"/>
                </a:solidFill>
                <a:latin typeface="Calibri"/>
              </a:defRPr>
            </a:pPr>
            <a:r>
              <a:t>OWASP SCVS, SLSA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5916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Dependencias terceros, integridad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Cómo se calcula — ejemplos concretos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Cada control tiene reglas binarias: pasa = suma, falla = 0  •  3 ejemplos 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3657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4A"/>
                </a:solidFill>
                <a:latin typeface="Calibri"/>
              </a:defRPr>
            </a:pPr>
            <a:r>
              <a:t>HSTS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HTTP Strict Transport Security  •  RFC 6797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933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+12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Presente, max-age ≥31M + includeSubDomains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✅ Óptimo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34640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136392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638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Presente pero max-age corto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56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⚠️ Mejorable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05072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06824"/>
            <a:ext cx="640080" cy="3200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34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06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Ausente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268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❌ Riesgo SSL stripping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1097280"/>
            <a:ext cx="3657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4A"/>
                </a:solidFill>
                <a:latin typeface="Calibri"/>
              </a:defRPr>
            </a:pPr>
            <a:r>
              <a:t>SPF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1536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Sender Policy Framework  •  RFC 7208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1965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19933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+10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0952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v=spf1 ... -all  (rechazo estricto)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✅ Solo IPs autorizadas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9432" y="2834640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99432" y="3136392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31638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+5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0952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v=spf1 ... ~all  (softfail)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0952" y="3456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⚠️ Entrega dudosa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9432" y="4005072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99432" y="4306824"/>
            <a:ext cx="640080" cy="3200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4334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0952" y="4306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Ausente o +all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46268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❌ Suplantable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84464" y="1097280"/>
            <a:ext cx="3657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4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4A"/>
                </a:solidFill>
                <a:latin typeface="Calibri"/>
              </a:defRPr>
            </a:pPr>
            <a:r>
              <a:t>TLS 1.3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4" y="1536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Transporte cifrado  •  RFC 8446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13064" y="1965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4" y="19933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+6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Negocia 1.3 y rechaza 1.0/1.1/1.2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✅ Solo moderno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13064" y="2834640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13064" y="3136392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13064" y="31638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0 (+14 base TLS OK)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Negocia 1.3 pero acepta 1.2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4584" y="3456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⚠️ Downgrade posible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13064" y="4005072"/>
            <a:ext cx="32004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13064" y="4306824"/>
            <a:ext cx="640080" cy="3200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4334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44584" y="4306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A3A4A"/>
                </a:solidFill>
                <a:latin typeface="Calibri"/>
              </a:defRPr>
            </a:pPr>
            <a:r>
              <a:t>Error TLS / Cert inválido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4584" y="46268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❌ No seguro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Ejemplo avanzado — Vulnerabilidades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OSV.dev + CISA KEV (explotadas hoy) + EPSS (probabilidad futura)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PUNTAJE POR VULNERABILIDADES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94360" cy="29260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099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+8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19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3A4A"/>
                </a:solidFill>
                <a:latin typeface="Calibri"/>
              </a:defRPr>
            </a:pPr>
            <a:r>
              <a:t>0 vulnerabilidades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21992"/>
            <a:ext cx="594360" cy="292608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+4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2494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3A4A"/>
                </a:solidFill>
                <a:latin typeface="Calibri"/>
              </a:defRPr>
            </a:pPr>
            <a:r>
              <a:t>1–3 vulns (ninguna KEV, EPSS &lt;0.1)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52344"/>
            <a:ext cx="594360" cy="292608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706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7797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3A4A"/>
                </a:solidFill>
                <a:latin typeface="Calibri"/>
              </a:defRPr>
            </a:pPr>
            <a:r>
              <a:t>≥1 KEV (explotada activamente)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82695"/>
            <a:ext cx="594360" cy="292608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0098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0 + peso en hallazgos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101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3A4A"/>
                </a:solidFill>
                <a:latin typeface="Calibri"/>
              </a:defRPr>
            </a:pPr>
            <a:r>
              <a:t>EPSS &gt;0.5 (alta prob. explotación)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09728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FUENTES QUE CRUZAMOS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691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70992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OSV.dev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Base global de vulnerabilidades (CVE) por tecnología detectada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22199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2402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221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CISA KEV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4505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Catálogo de vulns explotadas HOY — si aparece aquí es P1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752344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7523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EPSS (FIRST)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9809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Score 0–1 de probabilidad de explotación en 30 días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282695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00983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282695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NVD / CVSS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511295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Gravedad base + impacto + explotabilidad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389120"/>
            <a:ext cx="1127455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LECTURA DE UN HALLAZGO EN EL INFORME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CVE-2024-12345  —  Apache HTTP Server 2.4.49  —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166360"/>
            <a:ext cx="868680" cy="27432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8464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Risk 8.2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83080" y="5166360"/>
            <a:ext cx="868680" cy="274320"/>
          </a:xfrm>
          <a:prstGeom prst="roundRect">
            <a:avLst>
              <a:gd name="adj" fmla="val 5000"/>
            </a:avLst>
          </a:prstGeom>
          <a:solidFill>
            <a:srgbClr val="3A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83080" y="518464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EPSS 78%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80360" y="5166360"/>
            <a:ext cx="868680" cy="274320"/>
          </a:xfrm>
          <a:prstGeom prst="roundRect">
            <a:avLst>
              <a:gd name="adj" fmla="val 5000"/>
            </a:avLst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518464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KEV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5184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Calibri"/>
              </a:defRPr>
            </a:pPr>
            <a:r>
              <a:t>→  Prioridad P1  •  Hallazgo validado con PoC  •  Remediar ≤15 días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Del Domain Score al Score General y calificación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Promedio simple de proveedores  →  letra A–F  →  acción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7132320" cy="9144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FÓRMULA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A4A"/>
                </a:solidFill>
                <a:latin typeface="Calibri"/>
              </a:defRPr>
            </a:pPr>
            <a:r>
              <a:t>Score General  =  promedio( Domain Score de cada proveedor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Ej.: 3 proveedores con 95, 92, 88  →  91.7  →  92/100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143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Calibri"/>
              </a:defRPr>
            </a:pPr>
            <a:r>
              <a:t>TABLA DE CALIFICACIÓN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63040"/>
            <a:ext cx="3840480" cy="292608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LETRA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ACCIÓN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828800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1865376"/>
            <a:ext cx="292608" cy="20116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6537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562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≥90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1856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Rutinario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130552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2167128"/>
            <a:ext cx="292608" cy="201168"/>
          </a:xfrm>
          <a:prstGeom prst="roundRect">
            <a:avLst>
              <a:gd name="adj" fmla="val 5000"/>
            </a:avLst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16712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579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75–89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579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Planificado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432304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2468880"/>
            <a:ext cx="292608" cy="201168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46888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45973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60–74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459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30–90 días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734056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81160" y="2770632"/>
            <a:ext cx="292608" cy="201168"/>
          </a:xfrm>
          <a:prstGeom prst="roundRect">
            <a:avLst>
              <a:gd name="adj" fmla="val 5000"/>
            </a:avLst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77063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7614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45–59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761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≤30 días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3035808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81160" y="3072384"/>
            <a:ext cx="292608" cy="201168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07238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30–44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Escalar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337560"/>
            <a:ext cx="384048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81160" y="3374136"/>
            <a:ext cx="292608" cy="201168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37413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A3A4A"/>
                </a:solidFill>
                <a:latin typeface="Calibri"/>
              </a:defRPr>
            </a:pPr>
            <a:r>
              <a:t>&lt;30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Bloquear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24231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" y="26060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6334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92/100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Calibri"/>
              </a:defRPr>
            </a:pPr>
            <a:r>
              <a:t>Proveedor de confianza, monitoreo rutinario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0832" y="24231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99432" y="26060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26334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02352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68/100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2352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Calibri"/>
              </a:defRPr>
            </a:pPr>
            <a:r>
              <a:t>Requiere plan de remediación (30–90 días)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4464" y="24231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513064" y="2606040"/>
            <a:ext cx="411480" cy="41148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13064" y="26334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15984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22/100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15984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Calibri"/>
              </a:defRPr>
            </a:pPr>
            <a:r>
              <a:t>Incumplimiento generalizado, bloquear/reemplazar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VISUAL EN LOS INFORMES: gauge + letra + tendencia histórica (5 escaneos) + heatmap de riesgo (probabilidad × impacto)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45920" y="4160520"/>
            <a:ext cx="1645920" cy="201168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645920" y="4160520"/>
            <a:ext cx="1514246" cy="20116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4592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E7D32"/>
                </a:solidFill>
                <a:latin typeface="Calibri"/>
              </a:defRPr>
            </a:pPr>
            <a:r>
              <a:t>92/100  •  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20640" y="4160520"/>
            <a:ext cx="1645920" cy="201168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120640" y="4160520"/>
            <a:ext cx="1119225" cy="201168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9A825"/>
                </a:solidFill>
                <a:latin typeface="Calibri"/>
              </a:defRPr>
            </a:pPr>
            <a:r>
              <a:t>68/100  •  C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95360" y="4160520"/>
            <a:ext cx="1645920" cy="201168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595360" y="4160520"/>
            <a:ext cx="362102" cy="201168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536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C62828"/>
                </a:solidFill>
                <a:latin typeface="Calibri"/>
              </a:defRPr>
            </a:pPr>
            <a:r>
              <a:t>22/100  •  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Niveles de prueba — qué se escanea según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El informe indica el nivel ejecutado  •  Un 98 en Nivel 2 no es comparable a un 85 en Nivel 3 (más exhaustivo)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2697480" cy="45720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325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4A"/>
                </a:solidFill>
                <a:latin typeface="Calibri"/>
              </a:defRPr>
            </a:pPr>
            <a:r>
              <a:t>PASIVO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30–60 seg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A3A4A"/>
                </a:solidFill>
                <a:latin typeface="Calibri"/>
              </a:defRPr>
            </a:pPr>
            <a:r>
              <a:t>Solo consultas públicas:</a:t>
            </a:r>
            <a:br/>
            <a:r>
              <a:t>DNS, CT logs, WHOIS,</a:t>
            </a:r>
            <a:br/>
            <a:r>
              <a:t>Shodan InternetDB,</a:t>
            </a:r>
            <a:br/>
            <a:r>
              <a:t>brechas conocidas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224028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▸ Screening inicial</a:t>
            </a:r>
            <a:br/>
            <a:r>
              <a:t>Onboarding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2424" y="1143000"/>
            <a:ext cx="2697480" cy="4572000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66744" y="1325880"/>
            <a:ext cx="411480" cy="41148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4" y="1325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4A"/>
                </a:solidFill>
                <a:latin typeface="Calibri"/>
              </a:defRPr>
            </a:pPr>
            <a:r>
              <a:t>SEMI-ACTIVO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F6F9F"/>
                </a:solidFill>
                <a:latin typeface="Calibri"/>
              </a:defRPr>
            </a:pPr>
            <a:r>
              <a:t>2–5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205740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A3A4A"/>
                </a:solidFill>
                <a:latin typeface="Calibri"/>
              </a:defRPr>
            </a:pPr>
            <a:r>
              <a:t>+ TLS, cabeceras, rutas</a:t>
            </a:r>
            <a:br/>
            <a:r>
              <a:t>web, WAF, Nuclei</a:t>
            </a:r>
            <a:br/>
            <a:r>
              <a:t>(tecnologías), Gobuster</a:t>
            </a:r>
            <a:br/>
            <a:r>
              <a:t>(directorios comunes)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4069080"/>
            <a:ext cx="224028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41148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▸ Evaluación trimestral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1143000"/>
            <a:ext cx="2697480" cy="45720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01968" y="1325880"/>
            <a:ext cx="411480" cy="41148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1325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4A"/>
                </a:solidFill>
                <a:latin typeface="Calibri"/>
              </a:defRPr>
            </a:pPr>
            <a:r>
              <a:t>ACTIVO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9A825"/>
                </a:solidFill>
                <a:latin typeface="Calibri"/>
              </a:defRPr>
            </a:pPr>
            <a:r>
              <a:t>10–20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05740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A3A4A"/>
                </a:solidFill>
                <a:latin typeface="Calibri"/>
              </a:defRPr>
            </a:pPr>
            <a:r>
              <a:t>+ Subdominios fuerza</a:t>
            </a:r>
            <a:br/>
            <a:r>
              <a:t>bruta, takeover,</a:t>
            </a:r>
            <a:br/>
            <a:r>
              <a:t>port-scan, FinalRecon,</a:t>
            </a:r>
            <a:br/>
            <a:r>
              <a:t>API discovery, Nuclei</a:t>
            </a:r>
            <a:br/>
            <a:r>
              <a:t>(CVE/vulns)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6248" y="4069080"/>
            <a:ext cx="224028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1148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▸ Auditoría anual</a:t>
            </a:r>
            <a:br/>
            <a:r>
              <a:t>Proveedores críticos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2872" y="1143000"/>
            <a:ext cx="2697480" cy="4572000"/>
          </a:xfrm>
          <a:prstGeom prst="roundRect">
            <a:avLst>
              <a:gd name="adj" fmla="val 5000"/>
            </a:avLst>
          </a:prstGeom>
          <a:solidFill>
            <a:srgbClr val="FCE4E4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37192" y="132588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2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1325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4A"/>
                </a:solidFill>
                <a:latin typeface="Calibri"/>
              </a:defRPr>
            </a:pPr>
            <a:r>
              <a:t>INVASIVO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C62828"/>
                </a:solidFill>
                <a:latin typeface="Calibri"/>
              </a:defRPr>
            </a:pPr>
            <a:r>
              <a:t>20–40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05740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A3A4A"/>
                </a:solidFill>
                <a:latin typeface="Calibri"/>
              </a:defRPr>
            </a:pPr>
            <a:r>
              <a:t>+ Banner grab, CVE</a:t>
            </a:r>
            <a:br/>
            <a:r>
              <a:t>lookup (EPSS/KEV),</a:t>
            </a:r>
            <a:br/>
            <a:r>
              <a:t>IP pivot, Strix AI</a:t>
            </a:r>
            <a:br/>
            <a:r>
              <a:t>Pentest con PoC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1472" y="4069080"/>
            <a:ext cx="224028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41148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6B7280"/>
                </a:solidFill>
                <a:latin typeface="Calibri"/>
              </a:defRPr>
            </a:pPr>
            <a:r>
              <a:t>▸ Red team</a:t>
            </a:r>
            <a:br/>
            <a:r>
              <a:t>Validación incidentes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74552" cy="32004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6D00"/>
                </a:solidFill>
                <a:latin typeface="Calibri"/>
              </a:defRPr>
            </a:pPr>
            <a:r>
              <a:t>⚠  Los bloques Nuclei / Gobuster / Strix solo aparecen desde Nivel 2 en adelante (son activos por naturaleza). En Nivel 1 se muestra “No ejecutado (nivel pasivo)”.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Qué NO mide este score — alcance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Transparencia sobre lo que queda fuera del ASM externo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50876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2704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Seguridad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Red privada, Active Directory, endpoints, antivirus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Requiere agente / credenciales internas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23444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2" y="150876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52704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Hardening de servidores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Parches OS, configuración SSH, políticas GPO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Acceso con credenciales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123444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58784" y="150876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152704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Procesos humanos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Phishing a empleados, ingeniería social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Campañas autorizadas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8328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75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Cumplimiento normativo completo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ISO 27001, PCI-DSS, GDPR (marcos amplios)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Marco = superficie técnica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338328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45152" y="3657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675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632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Código fuente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SAST / DAST interno,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4617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Fuera de alcance ASM externo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338328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58784" y="3657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3675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0264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A4A"/>
                </a:solidFill>
                <a:latin typeface="Calibri"/>
              </a:defRPr>
            </a:pPr>
            <a:r>
              <a:t>Continuidad / BCP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Backups, DRP, RTO/RPO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4617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A6D00"/>
                </a:solidFill>
                <a:latin typeface="Calibri"/>
              </a:defRPr>
            </a:pPr>
            <a:r>
              <a:t>→ Auditoría de procesos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E7D32"/>
                </a:solidFill>
                <a:latin typeface="Calibri"/>
              </a:defRPr>
            </a:pPr>
            <a:r>
              <a:t>✔  Complementario a: Pentest manual  •  Auditoría ISO 27001  •  Monitoreo continuo de superficie  •  Gestión de vulnerabilidades interna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Cómo leer el informe —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6 secciones clave y la pregunta que responde cada 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3258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Score General</a:t>
            </a:r>
            <a:br/>
            <a:r>
              <a:t>+ Letra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Número grande + A/B/C/D/E/F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E7D32"/>
                </a:solidFill>
                <a:latin typeface="Calibri"/>
              </a:defRPr>
            </a:pPr>
            <a:r>
              <a:t>¿Está en verde (≥75)?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80" y="13258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Domain Score</a:t>
            </a:r>
            <a:br/>
            <a:r>
              <a:t>por proveedor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Tabla o tarjetas individuales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F6F9F"/>
                </a:solidFill>
                <a:latin typeface="Calibri"/>
              </a:defRPr>
            </a:pPr>
            <a:r>
              <a:t>¿Hay alguno &lt;60?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040" y="1325880"/>
            <a:ext cx="502920" cy="50292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Factores de riesgo</a:t>
            </a:r>
            <a:br/>
            <a:r>
              <a:t>(Risk Rows)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Tabla con peso 0–1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EF6C00"/>
                </a:solidFill>
                <a:latin typeface="Calibri"/>
              </a:defRPr>
            </a:pPr>
            <a:r>
              <a:t>¿Riesgos altos con hallazgos?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19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7999" y="132588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7999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19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Hallazgos</a:t>
            </a:r>
            <a:br/>
            <a:r>
              <a:t>detallados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Lista con Prioridad P1/P2/P3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79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C62828"/>
                </a:solidFill>
                <a:latin typeface="Calibri"/>
              </a:defRPr>
            </a:pPr>
            <a:r>
              <a:t>¿Hay P1 abiertos? ¿Cuántos?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23960" y="1325880"/>
            <a:ext cx="502920" cy="502920"/>
          </a:xfrm>
          <a:prstGeom prst="ellipse">
            <a:avLst/>
          </a:prstGeom>
          <a:solidFill>
            <a:srgbClr val="1B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Histórico</a:t>
            </a:r>
            <a:br/>
            <a:r>
              <a:t>Tendencia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Gráfico 5 escaneos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B7A6B"/>
                </a:solidFill>
                <a:latin typeface="Calibri"/>
              </a:defRPr>
            </a:pPr>
            <a:r>
              <a:t>¿Mejora o empeora?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1143000"/>
            <a:ext cx="1783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89920" y="1325880"/>
            <a:ext cx="502920" cy="50292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3A4A"/>
                </a:solidFill>
                <a:latin typeface="Calibri"/>
              </a:defRPr>
            </a:pPr>
            <a:r>
              <a:t>Matriz de riesgo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26974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Heatmap Prob × Impacto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7000" y="3383280"/>
            <a:ext cx="1508760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5204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9A825"/>
                </a:solidFill>
                <a:latin typeface="Calibri"/>
              </a:defRPr>
            </a:pPr>
            <a:r>
              <a:t>¿Hay zona roja?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DE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4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DE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DE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59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DE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DE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074920"/>
            <a:ext cx="11274552" cy="9601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2120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💡  TIP PARA DIRECTIVOS: Mirar en orden 1 → 4 → 5. Si 1 es A/B y 4 tiene 0 P1 y 5 es estable/mejora, el proveedor está controlado.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Si 1 es C/D/E/F o hay P1 abiertos o la tendencia empeora → escalar a dueño del proveedor y exigir plan de remediación con fechas.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Preguntas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Las 6 dudas que siempre hacen los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¿Por qué tiene 100/100?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Todos los controles visibles pasan. No es “seguridad perfecta”, es superficie externa limpia en ese nivel. Validar si el nivel fue suficiente (3/4 para críticos).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143000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28016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¿El score sube al arreglar?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Sí. Al siguiente escaneo el control pasa y suma puntos. La tendencia histórica lo muestra.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15768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529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¿Comparo proveedores de distintos sectores?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7296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El baremo es el mismo (25 controles). Sí es comparable, pero contextualice criticidad de negocio.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715768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8529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¿Bloquea el escaneo?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17296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Los controles que requieren conexión marcarán error/timeout y no sumarán. Queda explícito.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88536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¿Sustituye un pentest?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45736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No. ASM = descubrimiento continuo. Pentest = validación manual profunda con explotación. Complementarios.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4288536"/>
            <a:ext cx="56235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442569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3A4A"/>
                </a:solidFill>
                <a:latin typeface="Calibri"/>
              </a:defRPr>
            </a:pPr>
            <a:r>
              <a:t>P: ¿Cada cuánto escanear?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745736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R: Pasivo: semanal. Semi-activo: trimestral. Activo/invasivo: anual o tras incidente/cambio mayor.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Glosario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D0DD"/>
                </a:solidFill>
                <a:latin typeface="Calibri"/>
              </a:defRPr>
            </a:pPr>
            <a:r>
              <a:t>12 términos técnicos en lenguaje llano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8AA0B5"/>
                </a:solidFill>
                <a:latin typeface="Calibri"/>
              </a:defRPr>
            </a:pPr>
            <a:r>
              <a:t>ASM  • 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Calibri"/>
              </a:defRPr>
            </a:pPr>
            <a:r>
              <a:t>Metodología de Calificación  •  ASM-Informe-Proveedores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6B7280"/>
                </a:solidFill>
                <a:latin typeface="Calibri"/>
              </a:defRPr>
            </a:pPr>
            <a:r>
              <a:t>v1.0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57432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ASM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Gestión de la superficie de ataque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1430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Superficie de ataque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Todo lo visible desde Internet: dominios, IPs, puertos, certificados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1430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Pasivo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Solo consultas públicas, sin tocar sistemas del proveedor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50008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Activo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614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Conexiones reales para verificar configuración (HTTPS, puertos)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350008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487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CVE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7614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Vulnerabilidad conocida con ID estándar (CVE-2024-12345)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4464" y="2350008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2487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KEV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27614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Vuln. explotada HOY — CISA confirma ataque activo → P1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EPSS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684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Probabilidad 0–1 de explotación en 30 días (FIRST)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3557016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Typosquatting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39684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Dominio imitador para engañar (inc0credito.com)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4464" y="3557016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3064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Subdomain Takeover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39684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Subdominio apuntando a servicio no reclamado (control total)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64024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01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75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Dependencias de terceros que carga la web (CDNs, scripts)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0832" y="4764024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4901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DNSBL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5175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Lista de IPs con mala reputación (spam, malware, botnet)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4764024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4901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9F"/>
                </a:solidFill>
                <a:latin typeface="Calibri"/>
              </a:defRPr>
            </a:pPr>
            <a:r>
              <a:t>StarTTLS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13064" y="5175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Cifrado oportunista del correo entre servidores MX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C0E8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 la calificación</a:t>
            </a:r>
            <a:br/>
            <a:r>
              <a:t>a la acción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2A4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AC0E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70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Revisar hallazgos 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A8BB"/>
                </a:solidFill>
                <a:latin typeface="Calibri"/>
              </a:defRPr>
            </a:pPr>
            <a:r>
              <a:t>Dueño del proveedor + fecha compromiso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2A4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AC0E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30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Validar en re-escaneo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67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A8BB"/>
                </a:solidFill>
                <a:latin typeface="Calibri"/>
              </a:defRPr>
            </a:pPr>
            <a:r>
              <a:t>Nivel 2/3 según criticidad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2A4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AC0E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90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Monitorear tendencia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28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A8BB"/>
                </a:solidFill>
                <a:latin typeface="Calibri"/>
              </a:defRPr>
            </a:pPr>
            <a:r>
              <a:t>Dashboard  •  Histórico 5 escaneos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005840"/>
            <a:ext cx="39319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Calibri"/>
              </a:defRPr>
            </a:pPr>
            <a:r>
              <a:t>CONTACTO Y SOPORTE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A4A"/>
                </a:solidFill>
                <a:latin typeface="Calibri"/>
              </a:defRPr>
            </a:pPr>
            <a:r>
              <a:t>Seguridad de la Información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74519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B7280"/>
                </a:solidFill>
                <a:latin typeface="Calibri"/>
              </a:defRPr>
            </a:pPr>
            <a:r>
              <a:t>ASM Team  •  asm@empresa.com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3383280" cy="12700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5146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A3A4A"/>
                </a:solidFill>
                <a:latin typeface="Calibri"/>
              </a:defRPr>
            </a:pPr>
            <a:r>
              <a:t>Frecuencia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157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Semanal (pasivo)  •  Trimestral (semi)  •  Anual (activo)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0632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A3A4A"/>
                </a:solidFill>
                <a:latin typeface="Calibri"/>
              </a:defRPr>
            </a:pPr>
            <a:r>
              <a:t>Escalación 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64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Automática → Slack / Email / Jira + dueño proveedor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118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A3A4A"/>
                </a:solidFill>
                <a:latin typeface="Calibri"/>
              </a:defRPr>
            </a:pPr>
            <a:r>
              <a:t>Revisión método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8130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Trimestral (nuevas CVEs, RFCs, OWASP)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6051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A3A4A"/>
                </a:solidFill>
                <a:latin typeface="Calibri"/>
              </a:defRPr>
            </a:pPr>
            <a:r>
              <a:t>Próxima fecha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616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Re-escaneo en 90 días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846320"/>
            <a:ext cx="3383280" cy="64008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9377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AC0E8"/>
                </a:solidFill>
                <a:latin typeface="Calibri"/>
              </a:defRPr>
            </a:pPr>
            <a:r>
              <a:t>DOCUMENTO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1663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FFFFFF"/>
                </a:solidFill>
                <a:latin typeface="Calibri"/>
              </a:defRPr>
            </a:pPr>
            <a:r>
              <a:t>Se actualiza con cada release del motor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7A8A9A"/>
                </a:solidFill>
                <a:latin typeface="Calibri"/>
              </a:defRPr>
            </a:pPr>
            <a:r>
              <a:t>Metodología de Calificación  •  v1.0  •  Septiembre 2026  •  Uso interno  • 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